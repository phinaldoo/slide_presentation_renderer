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0" y="3726210"/>
            <a:ext cx="1143000" cy="5715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4" name="Text 1"/>
          <p:cNvSpPr/>
          <p:nvPr/>
        </p:nvSpPr>
        <p:spPr>
          <a:xfrm>
            <a:off x="4325243" y="4164360"/>
            <a:ext cx="9637514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Trade Balance Overview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4325243" y="5272980"/>
            <a:ext cx="96375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America's Position in Global Trade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886" y="6332041"/>
            <a:ext cx="228600" cy="2286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248" y="6332041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05786" y="6332041"/>
            <a:ext cx="2455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Analysis Division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0376148" y="6332041"/>
            <a:ext cx="12488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2562225"/>
            <a:ext cx="8001000" cy="1931343"/>
          </a:xfrm>
          <a:prstGeom prst="roundRect">
            <a:avLst>
              <a:gd name="adj" fmla="val 9864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562225"/>
            <a:ext cx="914" cy="1931343"/>
          </a:xfrm>
          <a:prstGeom prst="line">
            <a:avLst/>
          </a:prstGeom>
          <a:noFill/>
          <a:ln w="57150">
            <a:solidFill>
              <a:srgbClr val="B222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34500" y="2562225"/>
            <a:ext cx="8001000" cy="1931343"/>
          </a:xfrm>
          <a:prstGeom prst="roundRect">
            <a:avLst>
              <a:gd name="adj" fmla="val 9864"/>
            </a:avLst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9334500" y="2562225"/>
            <a:ext cx="914" cy="1931343"/>
          </a:xfrm>
          <a:prstGeom prst="line">
            <a:avLst/>
          </a:prstGeom>
          <a:noFill/>
          <a:ln w="57150">
            <a:solidFill>
              <a:srgbClr val="B222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500" y="4874568"/>
            <a:ext cx="8001000" cy="1931343"/>
          </a:xfrm>
          <a:prstGeom prst="roundRect">
            <a:avLst>
              <a:gd name="adj" fmla="val 9864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" y="4874568"/>
            <a:ext cx="914" cy="1931343"/>
          </a:xfrm>
          <a:prstGeom prst="line">
            <a:avLst/>
          </a:prstGeom>
          <a:noFill/>
          <a:ln w="57150">
            <a:solidFill>
              <a:srgbClr val="B222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34500" y="4874568"/>
            <a:ext cx="8001000" cy="1931343"/>
          </a:xfrm>
          <a:prstGeom prst="roundRect">
            <a:avLst>
              <a:gd name="adj" fmla="val 9864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9334500" y="4874568"/>
            <a:ext cx="914" cy="1931343"/>
          </a:xfrm>
          <a:prstGeom prst="line">
            <a:avLst/>
          </a:prstGeom>
          <a:noFill/>
          <a:ln w="57150">
            <a:solidFill>
              <a:srgbClr val="B222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1036439"/>
            <a:ext cx="483244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5910917" y="762000"/>
            <a:ext cx="14245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8021389" y="2752725"/>
            <a:ext cx="64636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B365D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390650" y="2943225"/>
            <a:ext cx="71818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Trade Deficit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90650" y="3442246"/>
            <a:ext cx="718185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has maintained a trade deficit since 1975, reaching $773 billion in 2023, driven by strong domestic demand and global supply chains.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289982" y="2752725"/>
            <a:ext cx="75976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B365D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772650" y="2943225"/>
            <a:ext cx="71818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Surplus Offset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772650" y="3442246"/>
            <a:ext cx="718185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goods trade shows significant deficit, services trade maintains a $280 billion surplus, partially offsetting the overall imbalance.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912298" y="5065068"/>
            <a:ext cx="75545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B365D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390650" y="5255568"/>
            <a:ext cx="71818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Remains Top Partner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90650" y="5754588"/>
            <a:ext cx="718185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China, Mexico, and Canada are the largest trading partners, with recent policy shifts reshaping bilateral trade dynamics.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6266914" y="5065068"/>
            <a:ext cx="78283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B365D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9772650" y="5255568"/>
            <a:ext cx="71818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Landscape Evolving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772650" y="5754588"/>
            <a:ext cx="718185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Tariffs, trade agreements, and supply‑chain restructuring are reshaping US trade patterns with significant economic implications.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2562225"/>
            <a:ext cx="80772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58300" y="2562225"/>
            <a:ext cx="80772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2500" y="3743325"/>
            <a:ext cx="80772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58300" y="3743325"/>
            <a:ext cx="80772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500" y="4924425"/>
            <a:ext cx="80772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58300" y="4924425"/>
            <a:ext cx="80772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2500" y="6105525"/>
            <a:ext cx="80772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58300" y="6105525"/>
            <a:ext cx="80772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" y="7286625"/>
            <a:ext cx="80772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58300" y="7286625"/>
            <a:ext cx="80772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500" y="1036439"/>
            <a:ext cx="191839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5918954" y="762000"/>
            <a:ext cx="14165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17" name="Shape 15"/>
          <p:cNvSpPr/>
          <p:nvPr/>
        </p:nvSpPr>
        <p:spPr>
          <a:xfrm>
            <a:off x="1276350" y="28098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18" name="Shape 16"/>
          <p:cNvSpPr/>
          <p:nvPr/>
        </p:nvSpPr>
        <p:spPr>
          <a:xfrm>
            <a:off x="9582150" y="28098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19" name="Shape 17"/>
          <p:cNvSpPr/>
          <p:nvPr/>
        </p:nvSpPr>
        <p:spPr>
          <a:xfrm>
            <a:off x="1276350" y="39909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20" name="Shape 18"/>
          <p:cNvSpPr/>
          <p:nvPr/>
        </p:nvSpPr>
        <p:spPr>
          <a:xfrm>
            <a:off x="9582150" y="39909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21" name="Shape 19"/>
          <p:cNvSpPr/>
          <p:nvPr/>
        </p:nvSpPr>
        <p:spPr>
          <a:xfrm>
            <a:off x="1276350" y="51720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22" name="Shape 20"/>
          <p:cNvSpPr/>
          <p:nvPr/>
        </p:nvSpPr>
        <p:spPr>
          <a:xfrm>
            <a:off x="9582150" y="51720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23" name="Shape 21"/>
          <p:cNvSpPr/>
          <p:nvPr/>
        </p:nvSpPr>
        <p:spPr>
          <a:xfrm>
            <a:off x="1276350" y="63531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24" name="Shape 22"/>
          <p:cNvSpPr/>
          <p:nvPr/>
        </p:nvSpPr>
        <p:spPr>
          <a:xfrm>
            <a:off x="9582150" y="63531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25" name="Shape 23"/>
          <p:cNvSpPr/>
          <p:nvPr/>
        </p:nvSpPr>
        <p:spPr>
          <a:xfrm>
            <a:off x="1276350" y="75342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26" name="Shape 24"/>
          <p:cNvSpPr/>
          <p:nvPr/>
        </p:nvSpPr>
        <p:spPr>
          <a:xfrm>
            <a:off x="9582150" y="75342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1276350" y="28098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962150" y="2914650"/>
            <a:ext cx="27176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Definitions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582150" y="28098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267950" y="2914650"/>
            <a:ext cx="2968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Data Sources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76350" y="39909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962150" y="4095750"/>
            <a:ext cx="16970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582150" y="39909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267950" y="4095750"/>
            <a:ext cx="2238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Analysis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276350" y="51720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962150" y="5276850"/>
            <a:ext cx="31814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Composition by Category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582150" y="51720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267950" y="5276850"/>
            <a:ext cx="22961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Trading Partners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276350" y="63531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962150" y="6457950"/>
            <a:ext cx="23113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&amp; Determinants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582150" y="63531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267950" y="6457950"/>
            <a:ext cx="26906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Impacts &amp; Policy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76350" y="75342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962150" y="7639050"/>
            <a:ext cx="20292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&amp; Scenarios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582150" y="75342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267950" y="7639050"/>
            <a:ext cx="33487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2562225"/>
            <a:ext cx="5206901" cy="2874615"/>
          </a:xfrm>
          <a:prstGeom prst="roundRect">
            <a:avLst>
              <a:gd name="adj" fmla="val 662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40401" y="2562225"/>
            <a:ext cx="5207050" cy="2874615"/>
          </a:xfrm>
          <a:prstGeom prst="roundRect">
            <a:avLst>
              <a:gd name="adj" fmla="val 662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28450" y="2562225"/>
            <a:ext cx="5207050" cy="2874615"/>
          </a:xfrm>
          <a:prstGeom prst="roundRect">
            <a:avLst>
              <a:gd name="adj" fmla="val 662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500" y="5817840"/>
            <a:ext cx="5206901" cy="2874615"/>
          </a:xfrm>
          <a:prstGeom prst="roundRect">
            <a:avLst>
              <a:gd name="adj" fmla="val 662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0401" y="5817840"/>
            <a:ext cx="5207050" cy="2874615"/>
          </a:xfrm>
          <a:prstGeom prst="roundRect">
            <a:avLst>
              <a:gd name="adj" fmla="val 662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28450" y="5817840"/>
            <a:ext cx="5207050" cy="2874615"/>
          </a:xfrm>
          <a:prstGeom prst="roundRect">
            <a:avLst>
              <a:gd name="adj" fmla="val 6627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1036439"/>
            <a:ext cx="654814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Definitions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5867757" y="762000"/>
            <a:ext cx="1467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4950" y="2962275"/>
            <a:ext cx="762000" cy="7620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851" y="2962275"/>
            <a:ext cx="762000" cy="7620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901" y="2962275"/>
            <a:ext cx="762000" cy="76200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950" y="6217890"/>
            <a:ext cx="762000" cy="76200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851" y="6217890"/>
            <a:ext cx="762000" cy="76200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0901" y="6217890"/>
            <a:ext cx="762000" cy="762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52550" y="3952875"/>
            <a:ext cx="4406801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Balance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1352550" y="4427190"/>
            <a:ext cx="44068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value of a nation's exports and imports over a specific period.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6940451" y="3952875"/>
            <a:ext cx="4406950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vs. Deficit</a:t>
            </a:r>
            <a:endParaRPr lang="en-US" sz="1950" dirty="0"/>
          </a:p>
        </p:txBody>
      </p:sp>
      <p:sp>
        <p:nvSpPr>
          <p:cNvPr id="22" name="Text 14"/>
          <p:cNvSpPr/>
          <p:nvPr/>
        </p:nvSpPr>
        <p:spPr>
          <a:xfrm>
            <a:off x="6940451" y="4427190"/>
            <a:ext cx="4406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Surplus: Exports exceed imports. Deficit: Imports exceed exports. US has run deficits since 1975.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12528500" y="3952875"/>
            <a:ext cx="4406950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vs. Services</a:t>
            </a:r>
            <a:endParaRPr lang="en-US" sz="1950" dirty="0"/>
          </a:p>
        </p:txBody>
      </p:sp>
      <p:sp>
        <p:nvSpPr>
          <p:cNvPr id="24" name="Text 16"/>
          <p:cNvSpPr/>
          <p:nvPr/>
        </p:nvSpPr>
        <p:spPr>
          <a:xfrm>
            <a:off x="12528500" y="4427190"/>
            <a:ext cx="4406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Goods: Physical products. Services: Intangible offerings like finance, consulting, and tourism.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352550" y="7208490"/>
            <a:ext cx="4406801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</a:t>
            </a:r>
            <a:endParaRPr lang="en-US" sz="1950" dirty="0"/>
          </a:p>
        </p:txBody>
      </p:sp>
      <p:sp>
        <p:nvSpPr>
          <p:cNvPr id="26" name="Text 18"/>
          <p:cNvSpPr/>
          <p:nvPr/>
        </p:nvSpPr>
        <p:spPr>
          <a:xfrm>
            <a:off x="1352550" y="7682805"/>
            <a:ext cx="44068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measure including trade balance, net income from abroad, and net transfers.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940451" y="7208490"/>
            <a:ext cx="4406950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Balance</a:t>
            </a:r>
            <a:endParaRPr lang="en-US" sz="1950" dirty="0"/>
          </a:p>
        </p:txBody>
      </p:sp>
      <p:sp>
        <p:nvSpPr>
          <p:cNvPr id="28" name="Text 20"/>
          <p:cNvSpPr/>
          <p:nvPr/>
        </p:nvSpPr>
        <p:spPr>
          <a:xfrm>
            <a:off x="6940451" y="7682805"/>
            <a:ext cx="4406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balance with a specific country. Can vary significantly across partners.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12528500" y="7208490"/>
            <a:ext cx="4406950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Trade-to-GDP Ratio</a:t>
            </a:r>
            <a:endParaRPr lang="en-US" sz="1950" dirty="0"/>
          </a:p>
        </p:txBody>
      </p:sp>
      <p:sp>
        <p:nvSpPr>
          <p:cNvPr id="30" name="Text 22"/>
          <p:cNvSpPr/>
          <p:nvPr/>
        </p:nvSpPr>
        <p:spPr>
          <a:xfrm>
            <a:off x="12528500" y="7682805"/>
            <a:ext cx="4406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trade openness. US ratio is ~24%, lower than many developed economies.</a:t>
            </a:r>
            <a:endParaRPr lang="en-US" sz="15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450" y="3152775"/>
            <a:ext cx="381000" cy="381000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351" y="3152775"/>
            <a:ext cx="381000" cy="381000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41401" y="3152775"/>
            <a:ext cx="381000" cy="381000"/>
          </a:xfrm>
          <a:prstGeom prst="rect">
            <a:avLst/>
          </a:prstGeom>
        </p:spPr>
      </p:pic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5450" y="6408390"/>
            <a:ext cx="381000" cy="381000"/>
          </a:xfrm>
          <a:prstGeom prst="rect">
            <a:avLst/>
          </a:prstGeom>
        </p:spPr>
      </p:pic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351" y="6408390"/>
            <a:ext cx="381000" cy="381000"/>
          </a:xfrm>
          <a:prstGeom prst="rect">
            <a:avLst/>
          </a:prstGeom>
        </p:spPr>
      </p:pic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41401" y="640839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036439"/>
            <a:ext cx="719747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Data Sources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5920145" y="762000"/>
            <a:ext cx="14153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952500" y="2562225"/>
            <a:ext cx="2679650" cy="527596"/>
          </a:xfrm>
          <a:prstGeom prst="rect">
            <a:avLst/>
          </a:prstGeom>
          <a:ln/>
        </p:spPr>
      </p:sp>
      <p:sp>
        <p:nvSpPr>
          <p:cNvPr id="8" name="Shape 6"/>
          <p:cNvSpPr/>
          <p:nvPr/>
        </p:nvSpPr>
        <p:spPr>
          <a:xfrm>
            <a:off x="952500" y="3089821"/>
            <a:ext cx="2679650" cy="914"/>
          </a:xfrm>
          <a:prstGeom prst="line">
            <a:avLst/>
          </a:prstGeom>
          <a:noFill/>
          <a:ln w="28575">
            <a:solidFill>
              <a:srgbClr val="B222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82125" y="2562225"/>
            <a:ext cx="2993975" cy="527596"/>
          </a:xfrm>
          <a:prstGeom prst="rect">
            <a:avLst/>
          </a:prstGeom>
          <a:ln/>
        </p:spPr>
      </p:sp>
      <p:sp>
        <p:nvSpPr>
          <p:cNvPr id="10" name="Shape 8"/>
          <p:cNvSpPr/>
          <p:nvPr/>
        </p:nvSpPr>
        <p:spPr>
          <a:xfrm>
            <a:off x="9382125" y="3089821"/>
            <a:ext cx="2993975" cy="914"/>
          </a:xfrm>
          <a:prstGeom prst="line">
            <a:avLst/>
          </a:prstGeom>
          <a:noFill/>
          <a:ln w="28575">
            <a:solidFill>
              <a:srgbClr val="B222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82125" y="3375571"/>
            <a:ext cx="7953375" cy="2533650"/>
          </a:xfrm>
          <a:prstGeom prst="roundRect">
            <a:avLst>
              <a:gd name="adj" fmla="val 7519"/>
            </a:avLst>
          </a:prstGeom>
          <a:solidFill>
            <a:srgbClr val="F3F4F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2125" y="6194971"/>
            <a:ext cx="7953375" cy="90666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382125" y="6194971"/>
            <a:ext cx="914" cy="906661"/>
          </a:xfrm>
          <a:prstGeom prst="line">
            <a:avLst/>
          </a:prstGeom>
          <a:noFill/>
          <a:ln w="5715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2500" y="2562225"/>
            <a:ext cx="2679650" cy="527596"/>
          </a:xfrm>
          <a:prstGeom prst="rect">
            <a:avLst/>
          </a:prstGeom>
          <a:noFill/>
          <a:ln/>
        </p:spPr>
        <p:txBody>
          <a:bodyPr wrap="square" lIns="0" tIns="0" rIns="0" bIns="2117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Sources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382125" y="2562225"/>
            <a:ext cx="2993975" cy="527596"/>
          </a:xfrm>
          <a:prstGeom prst="rect">
            <a:avLst/>
          </a:prstGeom>
          <a:noFill/>
          <a:ln/>
        </p:spPr>
        <p:txBody>
          <a:bodyPr wrap="square" lIns="0" tIns="0" rIns="0" bIns="2117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Frequency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52500" y="3375571"/>
            <a:ext cx="599182" cy="314325"/>
          </a:xfrm>
          <a:prstGeom prst="roundRect">
            <a:avLst>
              <a:gd name="adj" fmla="val 24242"/>
            </a:avLst>
          </a:prstGeom>
          <a:solidFill>
            <a:srgbClr val="1B365D"/>
          </a:solidFill>
          <a:ln/>
        </p:spPr>
      </p:sp>
      <p:sp>
        <p:nvSpPr>
          <p:cNvPr id="17" name="Shape 14"/>
          <p:cNvSpPr/>
          <p:nvPr/>
        </p:nvSpPr>
        <p:spPr>
          <a:xfrm>
            <a:off x="952500" y="4183261"/>
            <a:ext cx="913805" cy="314325"/>
          </a:xfrm>
          <a:prstGeom prst="roundRect">
            <a:avLst>
              <a:gd name="adj" fmla="val 24242"/>
            </a:avLst>
          </a:prstGeom>
          <a:solidFill>
            <a:srgbClr val="1B365D"/>
          </a:solidFill>
          <a:ln/>
        </p:spPr>
      </p:sp>
      <p:sp>
        <p:nvSpPr>
          <p:cNvPr id="18" name="Shape 15"/>
          <p:cNvSpPr/>
          <p:nvPr/>
        </p:nvSpPr>
        <p:spPr>
          <a:xfrm>
            <a:off x="952500" y="4990951"/>
            <a:ext cx="571798" cy="314325"/>
          </a:xfrm>
          <a:prstGeom prst="roundRect">
            <a:avLst>
              <a:gd name="adj" fmla="val 24242"/>
            </a:avLst>
          </a:prstGeom>
          <a:solidFill>
            <a:srgbClr val="1B365D"/>
          </a:solidFill>
          <a:ln/>
        </p:spPr>
      </p:sp>
      <p:sp>
        <p:nvSpPr>
          <p:cNvPr id="19" name="Shape 16"/>
          <p:cNvSpPr/>
          <p:nvPr/>
        </p:nvSpPr>
        <p:spPr>
          <a:xfrm>
            <a:off x="952500" y="5798641"/>
            <a:ext cx="655886" cy="314325"/>
          </a:xfrm>
          <a:prstGeom prst="roundRect">
            <a:avLst>
              <a:gd name="adj" fmla="val 24242"/>
            </a:avLst>
          </a:prstGeom>
          <a:solidFill>
            <a:srgbClr val="1B365D"/>
          </a:solidFill>
          <a:ln/>
        </p:spPr>
      </p:sp>
      <p:sp>
        <p:nvSpPr>
          <p:cNvPr id="20" name="Text 17"/>
          <p:cNvSpPr/>
          <p:nvPr/>
        </p:nvSpPr>
        <p:spPr>
          <a:xfrm>
            <a:off x="952500" y="3375571"/>
            <a:ext cx="599182" cy="314325"/>
          </a:xfrm>
          <a:prstGeom prst="rect">
            <a:avLst/>
          </a:prstGeom>
          <a:noFill/>
          <a:ln/>
        </p:spPr>
        <p:txBody>
          <a:bodyPr wrap="square" lIns="1058" tIns="2117" rIns="2117" bIns="1058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52500" y="4183261"/>
            <a:ext cx="913805" cy="314325"/>
          </a:xfrm>
          <a:prstGeom prst="rect">
            <a:avLst/>
          </a:prstGeom>
          <a:noFill/>
          <a:ln/>
        </p:spPr>
        <p:txBody>
          <a:bodyPr wrap="square" lIns="1058" tIns="2117" rIns="2117" bIns="1058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52500" y="4990951"/>
            <a:ext cx="571798" cy="314325"/>
          </a:xfrm>
          <a:prstGeom prst="rect">
            <a:avLst/>
          </a:prstGeom>
          <a:noFill/>
          <a:ln/>
        </p:spPr>
        <p:txBody>
          <a:bodyPr wrap="square" lIns="1058" tIns="2117" rIns="2117" bIns="1058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52500" y="5798641"/>
            <a:ext cx="655886" cy="314325"/>
          </a:xfrm>
          <a:prstGeom prst="rect">
            <a:avLst/>
          </a:prstGeom>
          <a:noFill/>
          <a:ln/>
        </p:spPr>
        <p:txBody>
          <a:bodyPr wrap="square" lIns="1058" tIns="2117" rIns="2117" bIns="1058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725025" y="6480721"/>
            <a:ext cx="7324725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typically released 35-45 days after reference period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742182" y="3375571"/>
            <a:ext cx="47794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of Economic Analysis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742182" y="3680371"/>
            <a:ext cx="477946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quarterly trade statistics, GDP impact analysis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2056805" y="4183261"/>
            <a:ext cx="4552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Census Bureau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2056805" y="4488061"/>
            <a:ext cx="4552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goods trade by commodity and partner country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714798" y="4990951"/>
            <a:ext cx="38161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Monetary Fund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714798" y="5295751"/>
            <a:ext cx="38161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comparisons, Balance of Payments data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798886" y="5798641"/>
            <a:ext cx="3858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Trade Organization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798886" y="6103441"/>
            <a:ext cx="38580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policy monitoring, dispute resolution data</a:t>
            </a:r>
            <a:endParaRPr lang="en-US" sz="135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375" y="3766096"/>
            <a:ext cx="4429125" cy="381000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5" y="4451896"/>
            <a:ext cx="4429125" cy="381000"/>
          </a:xfrm>
          <a:prstGeom prst="rect">
            <a:avLst/>
          </a:prstGeom>
        </p:spPr>
      </p:pic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2375" y="5137696"/>
            <a:ext cx="4429125" cy="3810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763125" y="3856583"/>
            <a:ext cx="1428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16002000" y="3756571"/>
            <a:ext cx="95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&amp; Services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9763125" y="4542383"/>
            <a:ext cx="1428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16002000" y="4442371"/>
            <a:ext cx="95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9763125" y="5228183"/>
            <a:ext cx="1428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350" dirty="0"/>
          </a:p>
        </p:txBody>
      </p:sp>
      <p:sp>
        <p:nvSpPr>
          <p:cNvPr id="41" name="Text 35"/>
          <p:cNvSpPr/>
          <p:nvPr/>
        </p:nvSpPr>
        <p:spPr>
          <a:xfrm>
            <a:off x="16002000" y="5128171"/>
            <a:ext cx="95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Revisions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4743450"/>
            <a:ext cx="16383000" cy="4114800"/>
          </a:xfrm>
          <a:prstGeom prst="roundRect">
            <a:avLst>
              <a:gd name="adj" fmla="val 4630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562225"/>
            <a:ext cx="3810000" cy="1800225"/>
          </a:xfrm>
          <a:prstGeom prst="roundRect">
            <a:avLst>
              <a:gd name="adj" fmla="val 8466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0" y="2562225"/>
            <a:ext cx="3810000" cy="1800225"/>
          </a:xfrm>
          <a:prstGeom prst="roundRect">
            <a:avLst>
              <a:gd name="adj" fmla="val 8466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34500" y="2562225"/>
            <a:ext cx="3810000" cy="1800225"/>
          </a:xfrm>
          <a:prstGeom prst="roundRect">
            <a:avLst>
              <a:gd name="adj" fmla="val 8466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25500" y="2562225"/>
            <a:ext cx="3810000" cy="1800225"/>
          </a:xfrm>
          <a:prstGeom prst="roundRect">
            <a:avLst>
              <a:gd name="adj" fmla="val 8466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5581650"/>
            <a:ext cx="15621000" cy="28575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2500" y="1036439"/>
            <a:ext cx="412864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Trends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15907494" y="762000"/>
            <a:ext cx="14280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0" dirty="0"/>
          </a:p>
        </p:txBody>
      </p:sp>
      <p:sp>
        <p:nvSpPr>
          <p:cNvPr id="13" name="Text 10"/>
          <p:cNvSpPr/>
          <p:nvPr/>
        </p:nvSpPr>
        <p:spPr>
          <a:xfrm>
            <a:off x="1333500" y="5124450"/>
            <a:ext cx="1562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Trade Balance Over Time (Billions USD)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033439" y="3771900"/>
            <a:ext cx="1648123" cy="266700"/>
          </a:xfrm>
          <a:prstGeom prst="roundRect">
            <a:avLst>
              <a:gd name="adj" fmla="val 50000"/>
            </a:avLst>
          </a:prstGeom>
          <a:solidFill>
            <a:srgbClr val="B22234">
              <a:alpha val="1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426154" y="3771900"/>
            <a:ext cx="1626543" cy="266700"/>
          </a:xfrm>
          <a:prstGeom prst="roundRect">
            <a:avLst>
              <a:gd name="adj" fmla="val 50000"/>
            </a:avLst>
          </a:prstGeom>
          <a:solidFill>
            <a:srgbClr val="B22234">
              <a:alpha val="1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4628912" y="3771900"/>
            <a:ext cx="1603177" cy="266700"/>
          </a:xfrm>
          <a:prstGeom prst="roundRect">
            <a:avLst>
              <a:gd name="adj" fmla="val 50000"/>
            </a:avLst>
          </a:prstGeom>
          <a:solidFill>
            <a:srgbClr val="059669">
              <a:alpha val="1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276350" y="2886075"/>
            <a:ext cx="3162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$773B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1276350" y="3495675"/>
            <a:ext cx="316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Trade Deficit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033439" y="3771900"/>
            <a:ext cx="1648123" cy="266700"/>
          </a:xfrm>
          <a:prstGeom prst="rect">
            <a:avLst/>
          </a:prstGeom>
          <a:noFill/>
          <a:ln/>
        </p:spPr>
        <p:txBody>
          <a:bodyPr wrap="square" lIns="529" tIns="1588" rIns="1588" bIns="529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18.7% from 2022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67350" y="2886075"/>
            <a:ext cx="3162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1975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5467350" y="3495675"/>
            <a:ext cx="316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Annual Surplus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251079" y="3771900"/>
            <a:ext cx="1594842" cy="266700"/>
          </a:xfrm>
          <a:prstGeom prst="rect">
            <a:avLst/>
          </a:prstGeom>
          <a:noFill/>
          <a:ln/>
        </p:spPr>
        <p:txBody>
          <a:bodyPr wrap="square" lIns="529" tIns="1588" rIns="1588" bIns="529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deficits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58350" y="2886075"/>
            <a:ext cx="3162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$918B</a:t>
            </a:r>
            <a:endParaRPr lang="en-US" sz="4200" dirty="0"/>
          </a:p>
        </p:txBody>
      </p:sp>
      <p:sp>
        <p:nvSpPr>
          <p:cNvPr id="24" name="Text 21"/>
          <p:cNvSpPr/>
          <p:nvPr/>
        </p:nvSpPr>
        <p:spPr>
          <a:xfrm>
            <a:off x="9658350" y="3495675"/>
            <a:ext cx="316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Deficit (2006)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0426154" y="3771900"/>
            <a:ext cx="1626543" cy="266700"/>
          </a:xfrm>
          <a:prstGeom prst="rect">
            <a:avLst/>
          </a:prstGeom>
          <a:noFill/>
          <a:ln/>
        </p:spPr>
        <p:txBody>
          <a:bodyPr wrap="square" lIns="529" tIns="1588" rIns="1588" bIns="529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Pre‑Financial Crisis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3849350" y="2886075"/>
            <a:ext cx="3162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4200" dirty="0"/>
          </a:p>
        </p:txBody>
      </p:sp>
      <p:sp>
        <p:nvSpPr>
          <p:cNvPr id="27" name="Text 24"/>
          <p:cNvSpPr/>
          <p:nvPr/>
        </p:nvSpPr>
        <p:spPr>
          <a:xfrm>
            <a:off x="13849350" y="3495675"/>
            <a:ext cx="316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as % of GDP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4628912" y="3771900"/>
            <a:ext cx="1603177" cy="266700"/>
          </a:xfrm>
          <a:prstGeom prst="rect">
            <a:avLst/>
          </a:prstGeom>
          <a:noFill/>
          <a:ln/>
        </p:spPr>
        <p:txBody>
          <a:bodyPr wrap="square" lIns="529" tIns="1588" rIns="1588" bIns="529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contribution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036439"/>
            <a:ext cx="50564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(2024)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5988903" y="762000"/>
            <a:ext cx="13465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6814096"/>
            <a:ext cx="7905750" cy="12418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52500" y="6814096"/>
            <a:ext cx="914" cy="1241822"/>
          </a:xfrm>
          <a:prstGeom prst="line">
            <a:avLst/>
          </a:prstGeom>
          <a:noFill/>
          <a:ln w="57150">
            <a:solidFill>
              <a:srgbClr val="B2223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29750" y="3137446"/>
            <a:ext cx="7905750" cy="3467100"/>
          </a:xfrm>
          <a:prstGeom prst="roundRect">
            <a:avLst>
              <a:gd name="adj" fmla="val 5495"/>
            </a:avLst>
          </a:prstGeom>
          <a:solidFill>
            <a:srgbClr val="F3F4F6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2562225"/>
            <a:ext cx="79057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Figures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429750" y="2562225"/>
            <a:ext cx="79057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(2024)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952500" y="3137446"/>
            <a:ext cx="3762375" cy="145732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95875" y="3137446"/>
            <a:ext cx="3762375" cy="145732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500" y="4975771"/>
            <a:ext cx="3762375" cy="145732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95875" y="4975771"/>
            <a:ext cx="3762375" cy="145732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0" y="3518446"/>
            <a:ext cx="7143750" cy="2667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95400" y="7099846"/>
            <a:ext cx="727710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deficit narrowed 10 % in 2024 while services surplus expanded 8 %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276350" y="3461296"/>
            <a:ext cx="3114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-$773B</a:t>
            </a:r>
            <a:endParaRPr lang="en-US" sz="4200" dirty="0"/>
          </a:p>
        </p:txBody>
      </p:sp>
      <p:sp>
        <p:nvSpPr>
          <p:cNvPr id="19" name="Text 15"/>
          <p:cNvSpPr/>
          <p:nvPr/>
        </p:nvSpPr>
        <p:spPr>
          <a:xfrm>
            <a:off x="1276350" y="4070896"/>
            <a:ext cx="3114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 Balance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419725" y="3461296"/>
            <a:ext cx="3114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-$1.06T</a:t>
            </a:r>
            <a:endParaRPr lang="en-US" sz="4200" dirty="0"/>
          </a:p>
        </p:txBody>
      </p:sp>
      <p:sp>
        <p:nvSpPr>
          <p:cNvPr id="21" name="Text 17"/>
          <p:cNvSpPr/>
          <p:nvPr/>
        </p:nvSpPr>
        <p:spPr>
          <a:xfrm>
            <a:off x="5419725" y="4070896"/>
            <a:ext cx="3114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Deficit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276350" y="5299621"/>
            <a:ext cx="3114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+$280B</a:t>
            </a:r>
            <a:endParaRPr lang="en-US" sz="4200" dirty="0"/>
          </a:p>
        </p:txBody>
      </p:sp>
      <p:sp>
        <p:nvSpPr>
          <p:cNvPr id="23" name="Text 19"/>
          <p:cNvSpPr/>
          <p:nvPr/>
        </p:nvSpPr>
        <p:spPr>
          <a:xfrm>
            <a:off x="1276350" y="5909221"/>
            <a:ext cx="3114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Surplus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419725" y="5299621"/>
            <a:ext cx="3114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$5.1T</a:t>
            </a:r>
            <a:endParaRPr lang="en-US" sz="4200" dirty="0"/>
          </a:p>
        </p:txBody>
      </p:sp>
      <p:sp>
        <p:nvSpPr>
          <p:cNvPr id="25" name="Text 21"/>
          <p:cNvSpPr/>
          <p:nvPr/>
        </p:nvSpPr>
        <p:spPr>
          <a:xfrm>
            <a:off x="5419725" y="5909221"/>
            <a:ext cx="3114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 Volume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036439"/>
            <a:ext cx="621044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by Category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5918359" y="762000"/>
            <a:ext cx="14171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952500" y="2562225"/>
            <a:ext cx="79057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Breakdown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429750" y="2562225"/>
            <a:ext cx="79057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Breakdown</a:t>
            </a:r>
            <a:endParaRPr lang="en-US" sz="2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137446"/>
            <a:ext cx="3048000" cy="30480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3137446"/>
            <a:ext cx="3048000" cy="30480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3899446"/>
            <a:ext cx="1524000" cy="15240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0" y="3899446"/>
            <a:ext cx="1524000" cy="1524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0" y="353749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14" name="Shape 8"/>
          <p:cNvSpPr/>
          <p:nvPr/>
        </p:nvSpPr>
        <p:spPr>
          <a:xfrm>
            <a:off x="4572000" y="414709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A4A7F"/>
          </a:solidFill>
          <a:ln/>
        </p:spPr>
      </p:sp>
      <p:sp>
        <p:nvSpPr>
          <p:cNvPr id="15" name="Shape 9"/>
          <p:cNvSpPr/>
          <p:nvPr/>
        </p:nvSpPr>
        <p:spPr>
          <a:xfrm>
            <a:off x="4572000" y="475669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B22234"/>
          </a:solidFill>
          <a:ln/>
        </p:spPr>
      </p:sp>
      <p:sp>
        <p:nvSpPr>
          <p:cNvPr id="16" name="Shape 10"/>
          <p:cNvSpPr/>
          <p:nvPr/>
        </p:nvSpPr>
        <p:spPr>
          <a:xfrm>
            <a:off x="4572000" y="536629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17" name="Shape 11"/>
          <p:cNvSpPr/>
          <p:nvPr/>
        </p:nvSpPr>
        <p:spPr>
          <a:xfrm>
            <a:off x="13049250" y="353749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/>
        </p:spPr>
      </p:sp>
      <p:sp>
        <p:nvSpPr>
          <p:cNvPr id="18" name="Shape 12"/>
          <p:cNvSpPr/>
          <p:nvPr/>
        </p:nvSpPr>
        <p:spPr>
          <a:xfrm>
            <a:off x="13049250" y="414709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A4A7F"/>
          </a:solidFill>
          <a:ln/>
        </p:spPr>
      </p:sp>
      <p:sp>
        <p:nvSpPr>
          <p:cNvPr id="19" name="Shape 13"/>
          <p:cNvSpPr/>
          <p:nvPr/>
        </p:nvSpPr>
        <p:spPr>
          <a:xfrm>
            <a:off x="13049250" y="475669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B22234"/>
          </a:solidFill>
          <a:ln/>
        </p:spPr>
      </p:sp>
      <p:sp>
        <p:nvSpPr>
          <p:cNvPr id="20" name="Shape 14"/>
          <p:cNvSpPr/>
          <p:nvPr/>
        </p:nvSpPr>
        <p:spPr>
          <a:xfrm>
            <a:off x="13049250" y="536629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21" name="Text 15"/>
          <p:cNvSpPr/>
          <p:nvPr/>
        </p:nvSpPr>
        <p:spPr>
          <a:xfrm>
            <a:off x="4953000" y="3442246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Goods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953000" y="3670846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• $1.08T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953000" y="4051846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953000" y="4280446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• $570B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953000" y="4661446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4953000" y="4890046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• $660B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953000" y="5271046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4953000" y="5499646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• $690B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3430250" y="3442246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3430250" y="3670846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• $1.6T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3430250" y="4051846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Goods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3430250" y="4280446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• $697B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3430250" y="4661446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Supplies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13430250" y="4890046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• $1.15T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3430250" y="5271046"/>
            <a:ext cx="3905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13430250" y="5499646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• $656B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036439"/>
            <a:ext cx="570502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Trading Partners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5907494" y="762000"/>
            <a:ext cx="14280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137446"/>
            <a:ext cx="7905750" cy="353377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3137446"/>
            <a:ext cx="7905750" cy="3810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429750" y="3137446"/>
            <a:ext cx="7905750" cy="914"/>
          </a:xfrm>
          <a:prstGeom prst="line">
            <a:avLst/>
          </a:prstGeom>
          <a:noFill/>
          <a:ln w="28575">
            <a:solidFill>
              <a:srgbClr val="6B7280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9429750" y="6947446"/>
            <a:ext cx="7905750" cy="914"/>
          </a:xfrm>
          <a:prstGeom prst="line">
            <a:avLst/>
          </a:prstGeom>
          <a:noFill/>
          <a:ln w="28575">
            <a:solidFill>
              <a:srgbClr val="6B7280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9429750" y="3137446"/>
            <a:ext cx="914" cy="3810000"/>
          </a:xfrm>
          <a:prstGeom prst="line">
            <a:avLst/>
          </a:prstGeom>
          <a:noFill/>
          <a:ln w="28575">
            <a:solidFill>
              <a:srgbClr val="6B7280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17335500" y="3137446"/>
            <a:ext cx="914" cy="3810000"/>
          </a:xfrm>
          <a:prstGeom prst="line">
            <a:avLst/>
          </a:prstGeom>
          <a:noFill/>
          <a:ln w="28575">
            <a:solidFill>
              <a:srgbClr val="6B7280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952500" y="2562225"/>
            <a:ext cx="79057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Trading Partners (2024)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9429750" y="2562225"/>
            <a:ext cx="79057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Distribution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12906375" y="4332833"/>
            <a:ext cx="952500" cy="952500"/>
          </a:xfrm>
          <a:prstGeom prst="ellipse">
            <a:avLst/>
          </a:prstGeom>
          <a:solidFill>
            <a:srgbClr val="1B365D"/>
          </a:solidFill>
          <a:ln/>
        </p:spPr>
      </p:sp>
      <p:sp>
        <p:nvSpPr>
          <p:cNvPr id="16" name="Text 12"/>
          <p:cNvSpPr/>
          <p:nvPr/>
        </p:nvSpPr>
        <p:spPr>
          <a:xfrm>
            <a:off x="11728549" y="5475833"/>
            <a:ext cx="330815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Trade Partner Map Here</a:t>
            </a:r>
            <a:endParaRPr lang="en-US" sz="1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0" y="4570958"/>
            <a:ext cx="476250" cy="476250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0" y="7233196"/>
            <a:ext cx="6286500" cy="38100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0" y="7899946"/>
            <a:ext cx="6286500" cy="38100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0" y="8566696"/>
            <a:ext cx="6286500" cy="381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429750" y="7323683"/>
            <a:ext cx="1428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9429750" y="7990433"/>
            <a:ext cx="1428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9429750" y="8657183"/>
            <a:ext cx="1428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2562225"/>
            <a:ext cx="527045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08700" y="2562225"/>
            <a:ext cx="527045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64901" y="2562225"/>
            <a:ext cx="527045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500" y="4581525"/>
            <a:ext cx="527045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8700" y="4581525"/>
            <a:ext cx="527045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64901" y="4581525"/>
            <a:ext cx="527045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1036439"/>
            <a:ext cx="575071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&amp; Determinants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6123593" y="762000"/>
            <a:ext cx="12119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1257300" y="3476625"/>
            <a:ext cx="4660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USD makes exports more expensive and imports cheaper, widening the deficit.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13500" y="3476625"/>
            <a:ext cx="4660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US consumer spending drives import growth, especially in consumer goods.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369701" y="3476625"/>
            <a:ext cx="4660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energy independence has reduced oil imports, partially offsetting goods deficit.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57300" y="5495925"/>
            <a:ext cx="4660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Tariffs, quotas, and trade agreements directly impact bilateral trade flows.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13500" y="5495925"/>
            <a:ext cx="4660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value chains and offshoring have integrated US production with foreign markets.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369701" y="5495925"/>
            <a:ext cx="4660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Productivity, innovation, and cost structure affect US export competitiveness globally.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57300" y="28670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3500" y="28670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12369701" y="28670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1257300" y="48863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813500" y="48863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12369701" y="48863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1866900" y="2962275"/>
            <a:ext cx="15065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423100" y="2962275"/>
            <a:ext cx="1756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Demand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979301" y="2962275"/>
            <a:ext cx="14918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Markets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866900" y="4981575"/>
            <a:ext cx="11562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Policy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423100" y="4981575"/>
            <a:ext cx="13259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979301" y="4981575"/>
            <a:ext cx="1579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Competitiveness</a:t>
            </a:r>
            <a:endParaRPr lang="en-US" sz="165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981325"/>
            <a:ext cx="228600" cy="228600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800" y="2981325"/>
            <a:ext cx="228600" cy="228600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4001" y="2981325"/>
            <a:ext cx="228600" cy="228600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5000625"/>
            <a:ext cx="228600" cy="228600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800" y="5000625"/>
            <a:ext cx="228600" cy="228600"/>
          </a:xfrm>
          <a:prstGeom prst="rect">
            <a:avLst/>
          </a:prstGeom>
        </p:spPr>
      </p:pic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4001" y="5000625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562225"/>
            <a:ext cx="3881438" cy="248022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688" y="2562225"/>
            <a:ext cx="3881438" cy="2480221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5" y="2562225"/>
            <a:ext cx="3881438" cy="2480221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4063" y="2562225"/>
            <a:ext cx="3881438" cy="248022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52500" y="1036439"/>
            <a:ext cx="913209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Impacts &amp; Policy Responses</a:t>
            </a:r>
            <a:endParaRPr lang="en-US" sz="4200" dirty="0"/>
          </a:p>
        </p:txBody>
      </p:sp>
      <p:sp>
        <p:nvSpPr>
          <p:cNvPr id="10" name="Text 4"/>
          <p:cNvSpPr/>
          <p:nvPr/>
        </p:nvSpPr>
        <p:spPr>
          <a:xfrm>
            <a:off x="16445061" y="762000"/>
            <a:ext cx="8904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619" y="2867025"/>
            <a:ext cx="457200" cy="45720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1806" y="2867025"/>
            <a:ext cx="457200" cy="45720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8994" y="2867025"/>
            <a:ext cx="457200" cy="45720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66181" y="2867025"/>
            <a:ext cx="457200" cy="45720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257300" y="3514725"/>
            <a:ext cx="3271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Impact</a:t>
            </a:r>
            <a:endParaRPr lang="en-US" sz="1800" dirty="0"/>
          </a:p>
        </p:txBody>
      </p:sp>
      <p:sp>
        <p:nvSpPr>
          <p:cNvPr id="16" name="Text 6"/>
          <p:cNvSpPr/>
          <p:nvPr/>
        </p:nvSpPr>
        <p:spPr>
          <a:xfrm>
            <a:off x="1257300" y="3914775"/>
            <a:ext cx="327183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deficit subtracts from GDP growth; net exports component typically negative</a:t>
            </a:r>
            <a:endParaRPr lang="en-US" sz="1350" dirty="0"/>
          </a:p>
        </p:txBody>
      </p:sp>
      <p:sp>
        <p:nvSpPr>
          <p:cNvPr id="17" name="Text 7"/>
          <p:cNvSpPr/>
          <p:nvPr/>
        </p:nvSpPr>
        <p:spPr>
          <a:xfrm>
            <a:off x="5424488" y="3514725"/>
            <a:ext cx="3271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800" dirty="0"/>
          </a:p>
        </p:txBody>
      </p:sp>
      <p:sp>
        <p:nvSpPr>
          <p:cNvPr id="18" name="Text 8"/>
          <p:cNvSpPr/>
          <p:nvPr/>
        </p:nvSpPr>
        <p:spPr>
          <a:xfrm>
            <a:off x="5424488" y="3914775"/>
            <a:ext cx="327183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effects: manufacturing jobs lost, but export sectors and services gain employment</a:t>
            </a:r>
            <a:endParaRPr lang="en-US" sz="1350" dirty="0"/>
          </a:p>
        </p:txBody>
      </p:sp>
      <p:sp>
        <p:nvSpPr>
          <p:cNvPr id="19" name="Text 9"/>
          <p:cNvSpPr/>
          <p:nvPr/>
        </p:nvSpPr>
        <p:spPr>
          <a:xfrm>
            <a:off x="9591675" y="3514725"/>
            <a:ext cx="3271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800" dirty="0"/>
          </a:p>
        </p:txBody>
      </p:sp>
      <p:sp>
        <p:nvSpPr>
          <p:cNvPr id="20" name="Text 10"/>
          <p:cNvSpPr/>
          <p:nvPr/>
        </p:nvSpPr>
        <p:spPr>
          <a:xfrm>
            <a:off x="9591675" y="3914775"/>
            <a:ext cx="3271838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help contain inflation; tariffs can increase consumer prices</a:t>
            </a:r>
            <a:endParaRPr lang="en-US" sz="1350" dirty="0"/>
          </a:p>
        </p:txBody>
      </p:sp>
      <p:sp>
        <p:nvSpPr>
          <p:cNvPr id="21" name="Text 11"/>
          <p:cNvSpPr/>
          <p:nvPr/>
        </p:nvSpPr>
        <p:spPr>
          <a:xfrm>
            <a:off x="13758863" y="3514725"/>
            <a:ext cx="3271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800" dirty="0"/>
          </a:p>
        </p:txBody>
      </p:sp>
      <p:sp>
        <p:nvSpPr>
          <p:cNvPr id="22" name="Text 12"/>
          <p:cNvSpPr/>
          <p:nvPr/>
        </p:nvSpPr>
        <p:spPr>
          <a:xfrm>
            <a:off x="13758863" y="3914775"/>
            <a:ext cx="3271838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capital inflows finance deficit, supporting investment and asset prices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952500" y="5518696"/>
            <a:ext cx="79057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Policy Tools</a:t>
            </a:r>
            <a:endParaRPr lang="en-US" sz="2100" dirty="0"/>
          </a:p>
        </p:txBody>
      </p:sp>
      <p:sp>
        <p:nvSpPr>
          <p:cNvPr id="24" name="Text 14"/>
          <p:cNvSpPr/>
          <p:nvPr/>
        </p:nvSpPr>
        <p:spPr>
          <a:xfrm>
            <a:off x="9429750" y="5518696"/>
            <a:ext cx="79057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Policy Actions</a:t>
            </a:r>
            <a:endParaRPr lang="en-US" sz="21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6132016"/>
            <a:ext cx="228600" cy="228600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6688187"/>
            <a:ext cx="228600" cy="228600"/>
          </a:xfrm>
          <a:prstGeom prst="rect">
            <a:avLst/>
          </a:prstGeom>
        </p:spPr>
      </p:pic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7244358"/>
            <a:ext cx="228600" cy="228600"/>
          </a:xfrm>
          <a:prstGeom prst="rect">
            <a:avLst/>
          </a:prstGeom>
        </p:spPr>
      </p:pic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00" y="7800529"/>
            <a:ext cx="228600" cy="228600"/>
          </a:xfrm>
          <a:prstGeom prst="rect">
            <a:avLst/>
          </a:prstGeom>
        </p:spPr>
      </p:pic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29750" y="6132016"/>
            <a:ext cx="228600" cy="228600"/>
          </a:xfrm>
          <a:prstGeom prst="rect">
            <a:avLst/>
          </a:prstGeom>
        </p:spPr>
      </p:pic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29750" y="6688187"/>
            <a:ext cx="228600" cy="228600"/>
          </a:xfrm>
          <a:prstGeom prst="rect">
            <a:avLst/>
          </a:prstGeom>
        </p:spPr>
      </p:pic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9750" y="7244358"/>
            <a:ext cx="228600" cy="22860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1333500" y="6093916"/>
            <a:ext cx="4031159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 on specific goods or countries</a:t>
            </a:r>
            <a:endParaRPr lang="en-US" sz="1800" dirty="0"/>
          </a:p>
        </p:txBody>
      </p:sp>
      <p:sp>
        <p:nvSpPr>
          <p:cNvPr id="33" name="Text 16"/>
          <p:cNvSpPr/>
          <p:nvPr/>
        </p:nvSpPr>
        <p:spPr>
          <a:xfrm>
            <a:off x="1333500" y="6650087"/>
            <a:ext cx="440456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trade agreements (USMCA, CPTPP)</a:t>
            </a:r>
            <a:endParaRPr lang="en-US" sz="1800" dirty="0"/>
          </a:p>
        </p:txBody>
      </p:sp>
      <p:sp>
        <p:nvSpPr>
          <p:cNvPr id="34" name="Text 17"/>
          <p:cNvSpPr/>
          <p:nvPr/>
        </p:nvSpPr>
        <p:spPr>
          <a:xfrm>
            <a:off x="1333500" y="7206258"/>
            <a:ext cx="435233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intervention &amp; monetary policy</a:t>
            </a:r>
            <a:endParaRPr lang="en-US" sz="1800" dirty="0"/>
          </a:p>
        </p:txBody>
      </p:sp>
      <p:sp>
        <p:nvSpPr>
          <p:cNvPr id="35" name="Text 18"/>
          <p:cNvSpPr/>
          <p:nvPr/>
        </p:nvSpPr>
        <p:spPr>
          <a:xfrm>
            <a:off x="1333500" y="7762429"/>
            <a:ext cx="296599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promotion programs</a:t>
            </a:r>
            <a:endParaRPr lang="en-US" sz="1800" dirty="0"/>
          </a:p>
        </p:txBody>
      </p:sp>
      <p:sp>
        <p:nvSpPr>
          <p:cNvPr id="36" name="Text 19"/>
          <p:cNvSpPr/>
          <p:nvPr/>
        </p:nvSpPr>
        <p:spPr>
          <a:xfrm>
            <a:off x="9810750" y="6093916"/>
            <a:ext cx="481265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301 tariffs on China ($300 B+ goods)</a:t>
            </a:r>
            <a:endParaRPr lang="en-US" sz="1800" dirty="0"/>
          </a:p>
        </p:txBody>
      </p:sp>
      <p:sp>
        <p:nvSpPr>
          <p:cNvPr id="37" name="Text 20"/>
          <p:cNvSpPr/>
          <p:nvPr/>
        </p:nvSpPr>
        <p:spPr>
          <a:xfrm>
            <a:off x="9810750" y="6650087"/>
            <a:ext cx="3365599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USMCA implementation (2020)</a:t>
            </a:r>
            <a:endParaRPr lang="en-US" sz="1800" dirty="0"/>
          </a:p>
        </p:txBody>
      </p:sp>
      <p:sp>
        <p:nvSpPr>
          <p:cNvPr id="38" name="Text 21"/>
          <p:cNvSpPr/>
          <p:nvPr/>
        </p:nvSpPr>
        <p:spPr>
          <a:xfrm>
            <a:off x="9810750" y="7206258"/>
            <a:ext cx="3872359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Act &amp; supply‑chain initiatives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562225"/>
            <a:ext cx="5206901" cy="342304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401" y="2562225"/>
            <a:ext cx="5207050" cy="3423047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450" y="2562225"/>
            <a:ext cx="5207050" cy="342304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52500" y="6461522"/>
            <a:ext cx="5207050" cy="145732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540550" y="6461522"/>
            <a:ext cx="5207050" cy="145732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128599" y="6461522"/>
            <a:ext cx="5207050" cy="145732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52500" y="1036439"/>
            <a:ext cx="641880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Outlook, Risks &amp; Scenarios</a:t>
            </a:r>
            <a:endParaRPr lang="en-US" sz="4200" dirty="0"/>
          </a:p>
        </p:txBody>
      </p:sp>
      <p:sp>
        <p:nvSpPr>
          <p:cNvPr id="12" name="Text 7"/>
          <p:cNvSpPr/>
          <p:nvPr/>
        </p:nvSpPr>
        <p:spPr>
          <a:xfrm>
            <a:off x="16232386" y="762000"/>
            <a:ext cx="1103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0" dirty="0"/>
          </a:p>
        </p:txBody>
      </p:sp>
      <p:sp>
        <p:nvSpPr>
          <p:cNvPr id="13" name="Text 8"/>
          <p:cNvSpPr/>
          <p:nvPr/>
        </p:nvSpPr>
        <p:spPr>
          <a:xfrm>
            <a:off x="1276350" y="6785372"/>
            <a:ext cx="455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4200" dirty="0"/>
          </a:p>
        </p:txBody>
      </p:sp>
      <p:sp>
        <p:nvSpPr>
          <p:cNvPr id="14" name="Text 9"/>
          <p:cNvSpPr/>
          <p:nvPr/>
        </p:nvSpPr>
        <p:spPr>
          <a:xfrm>
            <a:off x="1276350" y="7394972"/>
            <a:ext cx="4559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Export Growth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864400" y="6785372"/>
            <a:ext cx="455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4200" dirty="0"/>
          </a:p>
        </p:txBody>
      </p:sp>
      <p:sp>
        <p:nvSpPr>
          <p:cNvPr id="16" name="Text 11"/>
          <p:cNvSpPr/>
          <p:nvPr/>
        </p:nvSpPr>
        <p:spPr>
          <a:xfrm>
            <a:off x="6864400" y="7394972"/>
            <a:ext cx="4559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Import Growth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452449" y="6785372"/>
            <a:ext cx="455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$85B</a:t>
            </a:r>
            <a:endParaRPr lang="en-US" sz="4200" dirty="0"/>
          </a:p>
        </p:txBody>
      </p:sp>
      <p:sp>
        <p:nvSpPr>
          <p:cNvPr id="18" name="Text 13"/>
          <p:cNvSpPr/>
          <p:nvPr/>
        </p:nvSpPr>
        <p:spPr>
          <a:xfrm>
            <a:off x="12452449" y="7394972"/>
            <a:ext cx="4559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Deficit Reduction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5990481"/>
            <a:ext cx="114300" cy="114300"/>
          </a:xfrm>
          <a:prstGeom prst="ellipse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5091559"/>
            <a:ext cx="114300" cy="114300"/>
          </a:xfrm>
          <a:prstGeom prst="ellipse">
            <a:avLst/>
          </a:prstGeom>
          <a:solidFill>
            <a:srgbClr val="B22234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4192637"/>
            <a:ext cx="114300" cy="114300"/>
          </a:xfrm>
          <a:prstGeom prst="ellipse">
            <a:avLst/>
          </a:prstGeom>
          <a:solidFill>
            <a:srgbClr val="B22234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3293715"/>
            <a:ext cx="114300" cy="114300"/>
          </a:xfrm>
          <a:prstGeom prst="ellipse">
            <a:avLst/>
          </a:prstGeom>
          <a:solidFill>
            <a:srgbClr val="B2223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8" name="Shape 6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1036439"/>
            <a:ext cx="777329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6240423" y="762000"/>
            <a:ext cx="10950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0" y="2562225"/>
            <a:ext cx="7905750" cy="362322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52500" y="2562225"/>
            <a:ext cx="7905750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952500" y="3293715"/>
            <a:ext cx="790575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trade deficit is structural, driven by consumption patterns and global supply chains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52500" y="4192637"/>
            <a:ext cx="790575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trade surplus partially offsets goods deficit, representing a competitive advantage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52500" y="5091559"/>
            <a:ext cx="790575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policy alone cannot eliminate the deficit without broader economic adjustments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952500" y="5990481"/>
            <a:ext cx="790575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Supply‑chain diversification and reshoring will gradually reshape trade patterns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9810750" y="2943225"/>
            <a:ext cx="714375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810750" y="3518446"/>
            <a:ext cx="7143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Policymakers: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Focus on competitiveness, workforce development, and targeted trade agreements rather than broad protectionism.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810750" y="4280446"/>
            <a:ext cx="7143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Businesses: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Diversify supply chains, leverage services export opportunities, and monitor policy developments for strategic planning.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810750" y="5042446"/>
            <a:ext cx="7143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Investors: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Consider sector‑specific impacts of trade policies, currency movements, and supply‑chain shifts in portfolio decisions.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52500" y="3388965"/>
            <a:ext cx="114300" cy="114300"/>
          </a:xfrm>
          <a:prstGeom prst="ellipse">
            <a:avLst/>
          </a:prstGeom>
          <a:solidFill>
            <a:srgbClr val="B22234"/>
          </a:solidFill>
          <a:ln/>
        </p:spPr>
      </p:sp>
      <p:sp>
        <p:nvSpPr>
          <p:cNvPr id="22" name="Shape 19"/>
          <p:cNvSpPr/>
          <p:nvPr/>
        </p:nvSpPr>
        <p:spPr>
          <a:xfrm>
            <a:off x="952500" y="4287887"/>
            <a:ext cx="114300" cy="114300"/>
          </a:xfrm>
          <a:prstGeom prst="ellipse">
            <a:avLst/>
          </a:prstGeom>
          <a:solidFill>
            <a:srgbClr val="B22234"/>
          </a:solidFill>
          <a:ln/>
        </p:spPr>
      </p:sp>
      <p:sp>
        <p:nvSpPr>
          <p:cNvPr id="23" name="Shape 20"/>
          <p:cNvSpPr/>
          <p:nvPr/>
        </p:nvSpPr>
        <p:spPr>
          <a:xfrm>
            <a:off x="952500" y="5186809"/>
            <a:ext cx="114300" cy="114300"/>
          </a:xfrm>
          <a:prstGeom prst="ellipse">
            <a:avLst/>
          </a:prstGeom>
          <a:solidFill>
            <a:srgbClr val="B22234"/>
          </a:solidFill>
          <a:ln/>
        </p:spPr>
      </p:sp>
      <p:sp>
        <p:nvSpPr>
          <p:cNvPr id="24" name="Shape 21"/>
          <p:cNvSpPr/>
          <p:nvPr/>
        </p:nvSpPr>
        <p:spPr>
          <a:xfrm>
            <a:off x="952500" y="6085731"/>
            <a:ext cx="114300" cy="114300"/>
          </a:xfrm>
          <a:prstGeom prst="ellipse">
            <a:avLst/>
          </a:prstGeom>
          <a:solidFill>
            <a:srgbClr val="B2223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762000"/>
            <a:ext cx="16383000" cy="1228725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952500" y="1990725"/>
            <a:ext cx="16383000" cy="914"/>
          </a:xfrm>
          <a:prstGeom prst="line">
            <a:avLst/>
          </a:prstGeom>
          <a:noFill/>
          <a:ln w="28575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6048226"/>
            <a:ext cx="16383000" cy="9066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00" y="6048226"/>
            <a:ext cx="914" cy="906661"/>
          </a:xfrm>
          <a:prstGeom prst="line">
            <a:avLst/>
          </a:prstGeom>
          <a:noFill/>
          <a:ln w="57150">
            <a:solidFill>
              <a:srgbClr val="B222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500" y="2562225"/>
            <a:ext cx="5206901" cy="3105001"/>
          </a:xfrm>
          <a:prstGeom prst="roundRect">
            <a:avLst>
              <a:gd name="adj" fmla="val 4908"/>
            </a:avLst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6540401" y="2562225"/>
            <a:ext cx="5207050" cy="3105001"/>
          </a:xfrm>
          <a:prstGeom prst="roundRect">
            <a:avLst>
              <a:gd name="adj" fmla="val 4908"/>
            </a:avLst>
          </a:prstGeom>
          <a:solidFill>
            <a:srgbClr val="F3F4F6"/>
          </a:solidFill>
          <a:ln/>
        </p:spPr>
      </p:sp>
      <p:sp>
        <p:nvSpPr>
          <p:cNvPr id="9" name="Shape 6"/>
          <p:cNvSpPr/>
          <p:nvPr/>
        </p:nvSpPr>
        <p:spPr>
          <a:xfrm>
            <a:off x="12128450" y="2562225"/>
            <a:ext cx="5207050" cy="3105001"/>
          </a:xfrm>
          <a:prstGeom prst="roundRect">
            <a:avLst>
              <a:gd name="adj" fmla="val 4908"/>
            </a:avLst>
          </a:prstGeom>
          <a:solidFill>
            <a:srgbClr val="F3F4F6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1036439"/>
            <a:ext cx="481667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Appendix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16189226" y="762000"/>
            <a:ext cx="1146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0" dirty="0"/>
          </a:p>
        </p:txBody>
      </p:sp>
      <p:sp>
        <p:nvSpPr>
          <p:cNvPr id="12" name="Text 9"/>
          <p:cNvSpPr/>
          <p:nvPr/>
        </p:nvSpPr>
        <p:spPr>
          <a:xfrm>
            <a:off x="1295400" y="6333976"/>
            <a:ext cx="1575435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current as of January 2025. All figures in nominal US dollars unless otherwise specified.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238250" y="2847975"/>
            <a:ext cx="4635401" cy="400050"/>
          </a:xfrm>
          <a:prstGeom prst="rect">
            <a:avLst/>
          </a:prstGeom>
          <a:ln/>
        </p:spPr>
      </p:sp>
      <p:sp>
        <p:nvSpPr>
          <p:cNvPr id="14" name="Shape 11"/>
          <p:cNvSpPr/>
          <p:nvPr/>
        </p:nvSpPr>
        <p:spPr>
          <a:xfrm>
            <a:off x="1238250" y="3248025"/>
            <a:ext cx="4635401" cy="914"/>
          </a:xfrm>
          <a:prstGeom prst="line">
            <a:avLst/>
          </a:prstGeom>
          <a:noFill/>
          <a:ln w="19050">
            <a:solidFill>
              <a:srgbClr val="B2223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26151" y="2847975"/>
            <a:ext cx="4635550" cy="400050"/>
          </a:xfrm>
          <a:prstGeom prst="rect">
            <a:avLst/>
          </a:prstGeom>
          <a:ln/>
        </p:spPr>
      </p:sp>
      <p:sp>
        <p:nvSpPr>
          <p:cNvPr id="16" name="Shape 13"/>
          <p:cNvSpPr/>
          <p:nvPr/>
        </p:nvSpPr>
        <p:spPr>
          <a:xfrm>
            <a:off x="6826151" y="3248025"/>
            <a:ext cx="4635550" cy="914"/>
          </a:xfrm>
          <a:prstGeom prst="line">
            <a:avLst/>
          </a:prstGeom>
          <a:noFill/>
          <a:ln w="19050">
            <a:solidFill>
              <a:srgbClr val="B2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14200" y="2847975"/>
            <a:ext cx="4635550" cy="400050"/>
          </a:xfrm>
          <a:prstGeom prst="rect">
            <a:avLst/>
          </a:prstGeom>
          <a:ln/>
        </p:spPr>
      </p:sp>
      <p:sp>
        <p:nvSpPr>
          <p:cNvPr id="18" name="Shape 15"/>
          <p:cNvSpPr/>
          <p:nvPr/>
        </p:nvSpPr>
        <p:spPr>
          <a:xfrm>
            <a:off x="12414200" y="3248025"/>
            <a:ext cx="4635550" cy="914"/>
          </a:xfrm>
          <a:prstGeom prst="line">
            <a:avLst/>
          </a:prstGeom>
          <a:noFill/>
          <a:ln w="19050">
            <a:solidFill>
              <a:srgbClr val="B2223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8250" y="2847975"/>
            <a:ext cx="4635401" cy="400050"/>
          </a:xfrm>
          <a:prstGeom prst="rect">
            <a:avLst/>
          </a:prstGeom>
          <a:noFill/>
          <a:ln/>
        </p:spPr>
        <p:txBody>
          <a:bodyPr wrap="square" lIns="0" tIns="0" rIns="0" bIns="1588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Sources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826151" y="2847975"/>
            <a:ext cx="4635550" cy="400050"/>
          </a:xfrm>
          <a:prstGeom prst="rect">
            <a:avLst/>
          </a:prstGeom>
          <a:noFill/>
          <a:ln/>
        </p:spPr>
        <p:txBody>
          <a:bodyPr wrap="square" lIns="0" tIns="0" rIns="0" bIns="1588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2414200" y="2847975"/>
            <a:ext cx="4635550" cy="400050"/>
          </a:xfrm>
          <a:prstGeom prst="rect">
            <a:avLst/>
          </a:prstGeom>
          <a:noFill/>
          <a:ln/>
        </p:spPr>
        <p:txBody>
          <a:bodyPr wrap="square" lIns="0" tIns="0" rIns="0" bIns="1588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Resources</a:t>
            </a:r>
            <a:endParaRPr lang="en-US" sz="16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3438525"/>
            <a:ext cx="4635401" cy="27429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3827115"/>
            <a:ext cx="4635401" cy="27429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4215705"/>
            <a:ext cx="4635401" cy="27429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4604296"/>
            <a:ext cx="4635401" cy="274290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4992886"/>
            <a:ext cx="4635401" cy="274290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6151" y="3438525"/>
            <a:ext cx="4635550" cy="274290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6151" y="3827115"/>
            <a:ext cx="4635550" cy="274290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6151" y="4215705"/>
            <a:ext cx="4635550" cy="274290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6151" y="4604296"/>
            <a:ext cx="4635550" cy="274290"/>
          </a:xfrm>
          <a:prstGeom prst="rect">
            <a:avLst/>
          </a:prstGeom>
        </p:spPr>
      </p:pic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6151" y="4992886"/>
            <a:ext cx="4635550" cy="274290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14200" y="3438525"/>
            <a:ext cx="4635550" cy="274290"/>
          </a:xfrm>
          <a:prstGeom prst="rect">
            <a:avLst/>
          </a:prstGeom>
        </p:spPr>
      </p:pic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14200" y="3827115"/>
            <a:ext cx="4635550" cy="274290"/>
          </a:xfrm>
          <a:prstGeom prst="rect">
            <a:avLst/>
          </a:prstGeom>
        </p:spPr>
      </p:pic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14200" y="4215705"/>
            <a:ext cx="4635550" cy="274290"/>
          </a:xfrm>
          <a:prstGeom prst="rect">
            <a:avLst/>
          </a:prstGeom>
        </p:spPr>
      </p:pic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14200" y="4604296"/>
            <a:ext cx="4635550" cy="274290"/>
          </a:xfrm>
          <a:prstGeom prst="rect">
            <a:avLst/>
          </a:prstGeom>
        </p:spPr>
      </p:pic>
      <p:pic>
        <p:nvPicPr>
          <p:cNvPr id="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14200" y="4992886"/>
            <a:ext cx="4635550" cy="2742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2026-03-23T19:25:11Z</dcterms:created>
  <dcterms:modified xsi:type="dcterms:W3CDTF">2026-03-23T19:25:11Z</dcterms:modified>
</cp:coreProperties>
</file>